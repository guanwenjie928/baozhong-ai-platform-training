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</p:sldMasterIdLst>
  <p:notesMasterIdLst>
    <p:notesMasterId r:id="rId5"/>
  </p:notesMasterIdLst>
  <p:sldIdLst>
    <p:sldId id="256" r:id="rId4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00" userDrawn="1">
          <p15:clr>
            <a:srgbClr val="747775"/>
          </p15:clr>
        </p15:guide>
        <p15:guide id="2" pos="2862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00"/>
        <p:guide pos="2862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新学期伊始，我们的AI平台上线了全新的教师身份信息维护功能。这个功能旨在让信息管理更高效、更灵活。主要有三大亮点：首先，您可以自主维护个人信息；其次，可以灵活编辑您的教学职务；最后，系统支持您设置多学科、多班级的教学任务。操作非常简单，只需四步：从首页进入AI智能体中心，找到个人信息管理，点击个人信息即可开始编辑。请大家务必在开学初期完成信息核对与更新，谢谢！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tags" Target="../tags/tag6.xml"/><Relationship Id="rId8" Type="http://schemas.openxmlformats.org/officeDocument/2006/relationships/tags" Target="../tags/tag5.xml"/><Relationship Id="rId7" Type="http://schemas.openxmlformats.org/officeDocument/2006/relationships/tags" Target="../tags/tag4.xml"/><Relationship Id="rId6" Type="http://schemas.openxmlformats.org/officeDocument/2006/relationships/tags" Target="../tags/tag3.xml"/><Relationship Id="rId5" Type="http://schemas.openxmlformats.org/officeDocument/2006/relationships/tags" Target="../tags/tag2.xml"/><Relationship Id="rId4" Type="http://schemas.openxmlformats.org/officeDocument/2006/relationships/tags" Target="../tags/tag1.xml"/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4" Type="http://schemas.openxmlformats.org/officeDocument/2006/relationships/notesSlide" Target="../notesSlides/notesSlide1.xml"/><Relationship Id="rId13" Type="http://schemas.openxmlformats.org/officeDocument/2006/relationships/slideLayout" Target="../slideLayouts/slideLayout12.xml"/><Relationship Id="rId12" Type="http://schemas.openxmlformats.org/officeDocument/2006/relationships/image" Target="../media/image4.png"/><Relationship Id="rId11" Type="http://schemas.openxmlformats.org/officeDocument/2006/relationships/tags" Target="../tags/tag8.xml"/><Relationship Id="rId10" Type="http://schemas.openxmlformats.org/officeDocument/2006/relationships/tags" Target="../tags/tag7.xml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508000" y="362585"/>
            <a:ext cx="8070850" cy="78041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新学期教师身份信息维护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508000" y="1295400"/>
            <a:ext cx="6055995" cy="76200"/>
          </a:xfrm>
          <a:prstGeom prst="roundRect">
            <a:avLst>
              <a:gd name="adj" fmla="val 0"/>
            </a:avLst>
          </a:prstGeom>
          <a:solidFill>
            <a:srgbClr val="A78BFA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508000" y="1651000"/>
            <a:ext cx="558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A78BF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功能介绍：让信息管理更高效、更灵活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508000" y="2540000"/>
            <a:ext cx="55880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698500" y="2730500"/>
            <a:ext cx="609600" cy="6096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8" name="AutoShape 8"/>
          <p:cNvSpPr/>
          <p:nvPr/>
        </p:nvSpPr>
        <p:spPr>
          <a:xfrm>
            <a:off x="1524000" y="2667000"/>
            <a:ext cx="43815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个人信息自主维护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教师可随时登录平台，自行修改和更新个人基本信息，告别繁琐的线下申请流程，让个人档案始终保持最新状态，提升管理效率。</a:t>
            </a:r>
            <a:endParaRPr lang="en-US" sz="14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508000" y="3937000"/>
            <a:ext cx="55880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98500" y="4127500"/>
            <a:ext cx="609600" cy="6096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1" name="AutoShape 11"/>
          <p:cNvSpPr/>
          <p:nvPr/>
        </p:nvSpPr>
        <p:spPr>
          <a:xfrm>
            <a:off x="1524000" y="4064000"/>
            <a:ext cx="43815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教学职务灵活编辑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支持教师在线编辑和维护个人教学职务</a:t>
            </a:r>
            <a:r>
              <a:rPr lang="zh-CN" alt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确保学校管理系统数据与教师实际</a:t>
            </a:r>
            <a:r>
              <a:rPr lang="zh-CN" alt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教学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职务信息一致。</a:t>
            </a:r>
            <a:endParaRPr lang="en-US" sz="14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508000" y="5270500"/>
            <a:ext cx="55880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3"/>
          <a:srcRect l="23649" r="23649"/>
          <a:stretch>
            <a:fillRect/>
          </a:stretch>
        </p:blipFill>
        <p:spPr>
          <a:xfrm>
            <a:off x="698500" y="5461000"/>
            <a:ext cx="609600" cy="6096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4" name="AutoShape 14"/>
          <p:cNvSpPr/>
          <p:nvPr/>
        </p:nvSpPr>
        <p:spPr>
          <a:xfrm>
            <a:off x="1524000" y="5397500"/>
            <a:ext cx="43815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多学科与多班级支持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充分考虑跨学科、跨班级教学的实际情况，支持维护多个授课学科和所带班级信息，便于学校统筹教学资源、协调排课，实现资源优化配置。</a:t>
            </a:r>
            <a:endParaRPr lang="en-US" sz="14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15" name="Connector 15"/>
          <p:cNvCxnSpPr/>
          <p:nvPr/>
        </p:nvCxnSpPr>
        <p:spPr>
          <a:xfrm rot="5390708">
            <a:off x="4127500" y="3994159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A78BFA">
                <a:alpha val="4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6" name="AutoShape 16"/>
          <p:cNvSpPr/>
          <p:nvPr/>
        </p:nvSpPr>
        <p:spPr>
          <a:xfrm>
            <a:off x="6731000" y="1651000"/>
            <a:ext cx="495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A78BF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操作路径：四步轻松完成信息更新</a:t>
            </a:r>
            <a:endParaRPr lang="en-US" sz="1100"/>
          </a:p>
        </p:txBody>
      </p:sp>
      <p:sp>
        <p:nvSpPr>
          <p:cNvPr id="18" name="AutoShape 18"/>
          <p:cNvSpPr/>
          <p:nvPr>
            <p:custDataLst>
              <p:tags r:id="rId4"/>
            </p:custDataLst>
          </p:nvPr>
        </p:nvSpPr>
        <p:spPr>
          <a:xfrm>
            <a:off x="6731000" y="4762500"/>
            <a:ext cx="2387600" cy="889000"/>
          </a:xfrm>
          <a:prstGeom prst="roundRect">
            <a:avLst>
              <a:gd name="adj" fmla="val 0"/>
            </a:avLst>
          </a:prstGeom>
          <a:solidFill>
            <a:srgbClr val="A78BFA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>
            <p:custDataLst>
              <p:tags r:id="rId5"/>
            </p:custDataLst>
          </p:nvPr>
        </p:nvSpPr>
        <p:spPr>
          <a:xfrm>
            <a:off x="6832600" y="4826000"/>
            <a:ext cx="21844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A78BF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01. 登录平台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教师使用账号密码登录系统，进入平台首页，准备进行信息维护操作。</a:t>
            </a:r>
            <a:endParaRPr lang="en-US" sz="12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0" name="AutoShape 20"/>
          <p:cNvSpPr/>
          <p:nvPr>
            <p:custDataLst>
              <p:tags r:id="rId6"/>
            </p:custDataLst>
          </p:nvPr>
        </p:nvSpPr>
        <p:spPr>
          <a:xfrm>
            <a:off x="9296400" y="4762500"/>
            <a:ext cx="2387600" cy="889000"/>
          </a:xfrm>
          <a:prstGeom prst="roundRect">
            <a:avLst>
              <a:gd name="adj" fmla="val 0"/>
            </a:avLst>
          </a:prstGeom>
          <a:solidFill>
            <a:srgbClr val="A78BFA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>
            <p:custDataLst>
              <p:tags r:id="rId7"/>
            </p:custDataLst>
          </p:nvPr>
        </p:nvSpPr>
        <p:spPr>
          <a:xfrm>
            <a:off x="9398000" y="4826000"/>
            <a:ext cx="21844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A78BF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02. 进入</a:t>
            </a:r>
            <a:r>
              <a:rPr lang="zh-CN" altLang="en-US" sz="1500" b="1" i="0" u="none" strike="noStrike">
                <a:solidFill>
                  <a:srgbClr val="A78BF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个人与支持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在平台顶部导航栏中，找到并点击「</a:t>
            </a:r>
            <a:r>
              <a:rPr lang="zh-CN" alt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个人与支持</a:t>
            </a: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」入口。</a:t>
            </a:r>
            <a:endParaRPr lang="en-US" sz="12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2" name="AutoShape 22"/>
          <p:cNvSpPr/>
          <p:nvPr>
            <p:custDataLst>
              <p:tags r:id="rId8"/>
            </p:custDataLst>
          </p:nvPr>
        </p:nvSpPr>
        <p:spPr>
          <a:xfrm>
            <a:off x="6731000" y="5778500"/>
            <a:ext cx="2387600" cy="889000"/>
          </a:xfrm>
          <a:prstGeom prst="roundRect">
            <a:avLst>
              <a:gd name="adj" fmla="val 0"/>
            </a:avLst>
          </a:prstGeom>
          <a:solidFill>
            <a:srgbClr val="A78BFA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>
            <p:custDataLst>
              <p:tags r:id="rId9"/>
            </p:custDataLst>
          </p:nvPr>
        </p:nvSpPr>
        <p:spPr>
          <a:xfrm>
            <a:off x="6832600" y="5842000"/>
            <a:ext cx="2229485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A78BF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03. 选择</a:t>
            </a:r>
            <a:r>
              <a:rPr lang="zh-CN" altLang="en-US" sz="1500" b="1" i="0" u="none" strike="noStrike">
                <a:solidFill>
                  <a:srgbClr val="A78BF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个人教学资源中心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在左侧菜单栏中，定位并点击「个人</a:t>
            </a:r>
            <a:r>
              <a:rPr lang="zh-CN" alt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教学资源中心</a:t>
            </a: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」选项。</a:t>
            </a:r>
            <a:endParaRPr lang="en-US" sz="12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4" name="AutoShape 24"/>
          <p:cNvSpPr/>
          <p:nvPr>
            <p:custDataLst>
              <p:tags r:id="rId10"/>
            </p:custDataLst>
          </p:nvPr>
        </p:nvSpPr>
        <p:spPr>
          <a:xfrm>
            <a:off x="9296400" y="5778500"/>
            <a:ext cx="2387600" cy="889000"/>
          </a:xfrm>
          <a:prstGeom prst="roundRect">
            <a:avLst>
              <a:gd name="adj" fmla="val 0"/>
            </a:avLst>
          </a:prstGeom>
          <a:solidFill>
            <a:srgbClr val="A78BFA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5" name="AutoShape 25"/>
          <p:cNvSpPr/>
          <p:nvPr>
            <p:custDataLst>
              <p:tags r:id="rId11"/>
            </p:custDataLst>
          </p:nvPr>
        </p:nvSpPr>
        <p:spPr>
          <a:xfrm>
            <a:off x="9398000" y="5842000"/>
            <a:ext cx="21844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A78BF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04. 编辑个人信息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进入「个人信息」页面，</a:t>
            </a:r>
            <a:r>
              <a:rPr lang="zh-CN" alt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添加教学职务</a:t>
            </a: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核对并编辑相关内容后保存。</a:t>
            </a:r>
            <a:endParaRPr lang="en-US" sz="12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27" name="图片 26"/>
          <p:cNvPicPr>
            <a:picLocks noChangeAspect="1"/>
          </p:cNvPicPr>
          <p:nvPr/>
        </p:nvPicPr>
        <p:blipFill>
          <a:blip r:embed="rId12"/>
          <a:srcRect r="1388"/>
          <a:stretch>
            <a:fillRect/>
          </a:stretch>
        </p:blipFill>
        <p:spPr>
          <a:xfrm>
            <a:off x="6664325" y="2074545"/>
            <a:ext cx="5413375" cy="2497455"/>
          </a:xfrm>
          <a:prstGeom prst="rect">
            <a:avLst/>
          </a:prstGeom>
          <a:ln w="19050">
            <a:solidFill>
              <a:schemeClr val="accent1"/>
            </a:solidFill>
          </a:ln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150,&quot;left&quot;:530,&quot;top&quot;:375,&quot;width&quot;:390}"/>
</p:tagLst>
</file>

<file path=ppt/tags/tag2.xml><?xml version="1.0" encoding="utf-8"?>
<p:tagLst xmlns:p="http://schemas.openxmlformats.org/presentationml/2006/main">
  <p:tag name="KSO_WM_DIAGRAM_VIRTUALLY_FRAME" val="{&quot;height&quot;:150,&quot;left&quot;:530,&quot;top&quot;:375,&quot;width&quot;:390}"/>
</p:tagLst>
</file>

<file path=ppt/tags/tag3.xml><?xml version="1.0" encoding="utf-8"?>
<p:tagLst xmlns:p="http://schemas.openxmlformats.org/presentationml/2006/main">
  <p:tag name="KSO_WM_DIAGRAM_VIRTUALLY_FRAME" val="{&quot;height&quot;:150,&quot;left&quot;:530,&quot;top&quot;:375,&quot;width&quot;:390}"/>
</p:tagLst>
</file>

<file path=ppt/tags/tag4.xml><?xml version="1.0" encoding="utf-8"?>
<p:tagLst xmlns:p="http://schemas.openxmlformats.org/presentationml/2006/main">
  <p:tag name="KSO_WM_DIAGRAM_VIRTUALLY_FRAME" val="{&quot;height&quot;:150,&quot;left&quot;:530,&quot;top&quot;:375,&quot;width&quot;:390}"/>
</p:tagLst>
</file>

<file path=ppt/tags/tag5.xml><?xml version="1.0" encoding="utf-8"?>
<p:tagLst xmlns:p="http://schemas.openxmlformats.org/presentationml/2006/main">
  <p:tag name="KSO_WM_DIAGRAM_VIRTUALLY_FRAME" val="{&quot;height&quot;:150,&quot;left&quot;:530,&quot;top&quot;:375,&quot;width&quot;:390}"/>
</p:tagLst>
</file>

<file path=ppt/tags/tag6.xml><?xml version="1.0" encoding="utf-8"?>
<p:tagLst xmlns:p="http://schemas.openxmlformats.org/presentationml/2006/main">
  <p:tag name="KSO_WM_DIAGRAM_VIRTUALLY_FRAME" val="{&quot;height&quot;:150,&quot;left&quot;:530,&quot;top&quot;:375,&quot;width&quot;:390}"/>
</p:tagLst>
</file>

<file path=ppt/tags/tag7.xml><?xml version="1.0" encoding="utf-8"?>
<p:tagLst xmlns:p="http://schemas.openxmlformats.org/presentationml/2006/main">
  <p:tag name="KSO_WM_DIAGRAM_VIRTUALLY_FRAME" val="{&quot;height&quot;:150,&quot;left&quot;:530,&quot;top&quot;:375,&quot;width&quot;:390}"/>
</p:tagLst>
</file>

<file path=ppt/tags/tag8.xml><?xml version="1.0" encoding="utf-8"?>
<p:tagLst xmlns:p="http://schemas.openxmlformats.org/presentationml/2006/main">
  <p:tag name="KSO_WM_DIAGRAM_VIRTUALLY_FRAME" val="{&quot;height&quot;:150,&quot;left&quot;:530,&quot;top&quot;:375,&quot;width&quot;:390}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384</Words>
  <Application>WPS 演示</Application>
  <PresentationFormat/>
  <Paragraphs>27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</vt:i4>
      </vt:variant>
    </vt:vector>
  </HeadingPairs>
  <TitlesOfParts>
    <vt:vector size="10" baseType="lpstr">
      <vt:lpstr>Arial</vt:lpstr>
      <vt:lpstr>宋体</vt:lpstr>
      <vt:lpstr>Wingdings</vt:lpstr>
      <vt:lpstr>Arial</vt:lpstr>
      <vt:lpstr>Noto Sans SC</vt:lpstr>
      <vt:lpstr>微软雅黑</vt:lpstr>
      <vt:lpstr>Arial Unicode MS</vt:lpstr>
      <vt:lpstr>Office 主题​​</vt:lpstr>
      <vt:lpstr>默认主题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ou1***@*****mail.site</cp:lastModifiedBy>
  <cp:revision>2</cp:revision>
  <dcterms:created xsi:type="dcterms:W3CDTF">2026-06-29T02:30:40Z</dcterms:created>
  <dcterms:modified xsi:type="dcterms:W3CDTF">2026-06-29T02:31:01Z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{"Label":"1","ContentProducer":"001191110102MACQD9K64010000","ProduceID":"7656638094674480107","ReservedCode1":"","ContentPropagator":"","PropagateID":"","ReservedCode2":""}</vt:lpwstr>
  </property>
  <property fmtid="{D5CDD505-2E9C-101B-9397-08002B2CF9AE}" pid="3" name="KSOProductBuildVer">
    <vt:lpwstr>2052-12.1.0.26375</vt:lpwstr>
  </property>
  <property fmtid="{D5CDD505-2E9C-101B-9397-08002B2CF9AE}" pid="4" name="ICV">
    <vt:lpwstr>67B0AD6253834B7498952794CED14479_12</vt:lpwstr>
  </property>
</Properties>
</file>